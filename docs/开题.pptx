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2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A3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A20AC6-02FD-4FE6-A6A8-428F1F293408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32" y="96"/>
      </p:cViewPr>
      <p:guideLst>
        <p:guide orient="horz" pos="216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9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13.xml"/><Relationship Id="rId7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1383756" y="1739617"/>
            <a:ext cx="9797592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dirty="0" err="1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流程图编辑器测试实践</a:t>
            </a:r>
            <a:endParaRPr lang="en-US" sz="7500" b="1" dirty="0">
              <a:solidFill>
                <a:srgbClr val="06B6D4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568403" y="3342186"/>
            <a:ext cx="3055194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软件质量与评测技术</a:t>
            </a:r>
            <a:endParaRPr lang="en-US" sz="1800" b="0" i="0" u="none" strike="noStrike" cap="none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847560" y="4233792"/>
            <a:ext cx="4496880" cy="33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u="none" strike="noStrike" cap="none" dirty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</a:t>
            </a:r>
            <a:r>
              <a:rPr lang="en-US" altLang="zh-CN" sz="1350" b="0" i="0" u="none" strike="noStrike" cap="none" dirty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 The Stone Roses         </a:t>
            </a:r>
            <a:r>
              <a:rPr lang="zh-CN" altLang="en-US" sz="1350" b="0" i="0" u="none" strike="noStrike" cap="none" dirty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时间：</a:t>
            </a:r>
            <a:r>
              <a:rPr lang="en-US" altLang="zh-CN" sz="1350" b="0" i="0" u="none" strike="noStrike" cap="none" dirty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2025.11.26</a:t>
            </a:r>
          </a:p>
        </p:txBody>
      </p:sp>
    </p:spTree>
    <p:extLst>
      <p:ext uri="{BB962C8B-B14F-4D97-AF65-F5344CB8AC3E}">
        <p14:creationId xmlns:p14="http://schemas.microsoft.com/office/powerpoint/2010/main" val="1854440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3D4B82C-A39A-F9CB-F5DA-B2D76BBB3DBA}"/>
              </a:ext>
            </a:extLst>
          </p:cNvPr>
          <p:cNvGrpSpPr/>
          <p:nvPr/>
        </p:nvGrpSpPr>
        <p:grpSpPr>
          <a:xfrm>
            <a:off x="6096000" y="1651924"/>
            <a:ext cx="5500687" cy="1072455"/>
            <a:chOff x="571500" y="1751042"/>
            <a:chExt cx="5500687" cy="1072455"/>
          </a:xfrm>
        </p:grpSpPr>
        <p:sp>
          <p:nvSpPr>
            <p:cNvPr id="96" name="Google Shape;96;p14"/>
            <p:cNvSpPr txBox="1"/>
            <p:nvPr>
              <p:custDataLst>
                <p:tags r:id="rId5"/>
              </p:custDataLst>
            </p:nvPr>
          </p:nvSpPr>
          <p:spPr>
            <a:xfrm>
              <a:off x="571500" y="1751042"/>
              <a:ext cx="5500687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0F172A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1. 编写目的</a:t>
              </a:r>
            </a:p>
          </p:txBody>
        </p:sp>
        <p:sp>
          <p:nvSpPr>
            <p:cNvPr id="97" name="Google Shape;97;p14"/>
            <p:cNvSpPr txBox="1"/>
            <p:nvPr>
              <p:custDataLst>
                <p:tags r:id="rId6"/>
              </p:custDataLst>
            </p:nvPr>
          </p:nvSpPr>
          <p:spPr>
            <a:xfrm>
              <a:off x="571500" y="2274917"/>
              <a:ext cx="5238750" cy="548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 err="1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旨在对“流程图编辑器”项目进行全面测试规划，验证软件是否满足功能需求，并发现潜在的软件缺陷</a:t>
              </a:r>
              <a:r>
                <a:rPr lang="en-US" sz="1350" b="0" i="0" u="none" strike="noStrike" cap="none" dirty="0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。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39CD0BA-1258-7B65-18AE-5ACD3F31BAA1}"/>
              </a:ext>
            </a:extLst>
          </p:cNvPr>
          <p:cNvGrpSpPr/>
          <p:nvPr/>
        </p:nvGrpSpPr>
        <p:grpSpPr>
          <a:xfrm>
            <a:off x="3345656" y="2998047"/>
            <a:ext cx="5500687" cy="1261020"/>
            <a:chOff x="571500" y="3194337"/>
            <a:chExt cx="5500687" cy="1261020"/>
          </a:xfrm>
        </p:grpSpPr>
        <p:sp>
          <p:nvSpPr>
            <p:cNvPr id="98" name="Google Shape;98;p14"/>
            <p:cNvSpPr txBox="1"/>
            <p:nvPr>
              <p:custDataLst>
                <p:tags r:id="rId3"/>
              </p:custDataLst>
            </p:nvPr>
          </p:nvSpPr>
          <p:spPr>
            <a:xfrm>
              <a:off x="571500" y="3194337"/>
              <a:ext cx="5500687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 dirty="0">
                  <a:solidFill>
                    <a:srgbClr val="0F172A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2. </a:t>
              </a:r>
              <a:r>
                <a:rPr lang="en-US" sz="2100" b="1" i="0" u="none" strike="noStrike" cap="none" dirty="0" err="1">
                  <a:solidFill>
                    <a:srgbClr val="0F172A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项目背景</a:t>
              </a:r>
              <a:endParaRPr lang="en-US" sz="2100" b="1" i="0" u="none" strike="noStrike" cap="none" dirty="0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99" name="Google Shape;99;p14"/>
            <p:cNvSpPr txBox="1"/>
            <p:nvPr>
              <p:custDataLst>
                <p:tags r:id="rId4"/>
              </p:custDataLst>
            </p:nvPr>
          </p:nvSpPr>
          <p:spPr>
            <a:xfrm>
              <a:off x="571500" y="3632487"/>
              <a:ext cx="5238750" cy="822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由 </a:t>
              </a:r>
              <a:r>
                <a:rPr lang="en-US" sz="1350" b="0" i="0" u="none" strike="noStrike" cap="none" dirty="0" err="1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utnubu</a:t>
              </a:r>
              <a:r>
                <a:rPr lang="en-US" sz="1350" b="0" i="0" u="none" strike="noStrike" cap="none" dirty="0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组开发的基于</a:t>
              </a:r>
              <a:r>
                <a:rPr lang="en-US" sz="1350" b="0" i="0" u="none" strike="noStrike" cap="none" dirty="0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Qt </a:t>
              </a:r>
              <a:r>
                <a:rPr lang="en-US" sz="1350" b="0" i="0" u="none" strike="noStrike" cap="none" dirty="0" err="1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框架的流程图编辑器。该软件主要用于业务流程建模，核心功能包括图元绘制、连线管理、文件操作及属性编辑</a:t>
              </a:r>
              <a:r>
                <a:rPr lang="en-US" sz="1350" b="0" i="0" u="none" strike="noStrike" cap="none" dirty="0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。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E149E88-DA4C-385E-7912-830163ACDC66}"/>
              </a:ext>
            </a:extLst>
          </p:cNvPr>
          <p:cNvGrpSpPr/>
          <p:nvPr/>
        </p:nvGrpSpPr>
        <p:grpSpPr>
          <a:xfrm>
            <a:off x="595312" y="4582296"/>
            <a:ext cx="5500687" cy="1072455"/>
            <a:chOff x="571500" y="4740473"/>
            <a:chExt cx="5500687" cy="1072455"/>
          </a:xfrm>
        </p:grpSpPr>
        <p:sp>
          <p:nvSpPr>
            <p:cNvPr id="100" name="Google Shape;100;p14"/>
            <p:cNvSpPr txBox="1"/>
            <p:nvPr>
              <p:custDataLst>
                <p:tags r:id="rId1"/>
              </p:custDataLst>
            </p:nvPr>
          </p:nvSpPr>
          <p:spPr>
            <a:xfrm>
              <a:off x="571500" y="4740473"/>
              <a:ext cx="5500687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0F172A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3. 测试范围</a:t>
              </a:r>
            </a:p>
          </p:txBody>
        </p:sp>
        <p:sp>
          <p:nvSpPr>
            <p:cNvPr id="101" name="Google Shape;101;p14"/>
            <p:cNvSpPr txBox="1"/>
            <p:nvPr>
              <p:custDataLst>
                <p:tags r:id="rId2"/>
              </p:custDataLst>
            </p:nvPr>
          </p:nvSpPr>
          <p:spPr>
            <a:xfrm>
              <a:off x="571500" y="5264348"/>
              <a:ext cx="5238750" cy="5485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 err="1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本次测试覆盖功能测试、非功能测试（易用性）以及智能化测试工具（Agent）的适配与应用</a:t>
              </a:r>
              <a:r>
                <a:rPr lang="en-US" sz="1350" b="0" i="0" u="none" strike="noStrike" cap="none" dirty="0">
                  <a:solidFill>
                    <a:srgbClr val="334155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。</a:t>
              </a:r>
            </a:p>
          </p:txBody>
        </p:sp>
      </p:grpSp>
      <p:sp>
        <p:nvSpPr>
          <p:cNvPr id="103" name="Google Shape;103;p14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项目概况</a:t>
            </a:r>
            <a:endParaRPr lang="en-US" sz="3150" b="1" i="0" u="none" strike="noStrike" cap="none" dirty="0">
              <a:solidFill>
                <a:srgbClr val="0F17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71500" y="1295400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88405" y="5129052"/>
            <a:ext cx="1264948" cy="14222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2488852"/>
            <a:ext cx="3492549" cy="3013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49799" y="2488852"/>
            <a:ext cx="3492549" cy="3013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128099" y="2488852"/>
            <a:ext cx="3492549" cy="30136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1757630" y="3431827"/>
            <a:ext cx="112014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硬件环境</a:t>
            </a:r>
          </a:p>
        </p:txBody>
      </p:sp>
      <p:sp>
        <p:nvSpPr>
          <p:cNvPr id="114" name="Google Shape;114;p15"/>
          <p:cNvSpPr txBox="1"/>
          <p:nvPr/>
        </p:nvSpPr>
        <p:spPr>
          <a:xfrm>
            <a:off x="1327101" y="3955702"/>
            <a:ext cx="20193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处理器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Intel Core i7/i9</a:t>
            </a:r>
          </a:p>
        </p:txBody>
      </p:sp>
      <p:sp>
        <p:nvSpPr>
          <p:cNvPr id="115" name="Google Shape;115;p15"/>
          <p:cNvSpPr txBox="1"/>
          <p:nvPr/>
        </p:nvSpPr>
        <p:spPr>
          <a:xfrm>
            <a:off x="1612850" y="4372867"/>
            <a:ext cx="14097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内存: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16GB 及以上</a:t>
            </a:r>
          </a:p>
        </p:txBody>
      </p:sp>
      <p:sp>
        <p:nvSpPr>
          <p:cNvPr id="116" name="Google Shape;116;p15"/>
          <p:cNvSpPr txBox="1"/>
          <p:nvPr/>
        </p:nvSpPr>
        <p:spPr>
          <a:xfrm>
            <a:off x="857839" y="4790033"/>
            <a:ext cx="2920608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操作系统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Windows 10/11 (64-bit)</a:t>
            </a:r>
          </a:p>
        </p:txBody>
      </p:sp>
      <p:sp>
        <p:nvSpPr>
          <p:cNvPr id="117" name="Google Shape;117;p15"/>
          <p:cNvSpPr txBox="1"/>
          <p:nvPr/>
        </p:nvSpPr>
        <p:spPr>
          <a:xfrm>
            <a:off x="5535930" y="3431827"/>
            <a:ext cx="112014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软件环境</a:t>
            </a:r>
          </a:p>
        </p:txBody>
      </p:sp>
      <p:sp>
        <p:nvSpPr>
          <p:cNvPr id="118" name="Google Shape;118;p15"/>
          <p:cNvSpPr txBox="1"/>
          <p:nvPr/>
        </p:nvSpPr>
        <p:spPr>
          <a:xfrm>
            <a:off x="5353050" y="3955702"/>
            <a:ext cx="14859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开发框架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Qt 6.10.0</a:t>
            </a:r>
          </a:p>
        </p:txBody>
      </p:sp>
      <p:sp>
        <p:nvSpPr>
          <p:cNvPr id="119" name="Google Shape;119;p15"/>
          <p:cNvSpPr txBox="1"/>
          <p:nvPr/>
        </p:nvSpPr>
        <p:spPr>
          <a:xfrm>
            <a:off x="4769963" y="4372867"/>
            <a:ext cx="2786784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编译器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MinGW 64-bit (Debug)</a:t>
            </a:r>
          </a:p>
        </p:txBody>
      </p:sp>
      <p:sp>
        <p:nvSpPr>
          <p:cNvPr id="120" name="Google Shape;120;p15"/>
          <p:cNvSpPr txBox="1"/>
          <p:nvPr/>
        </p:nvSpPr>
        <p:spPr>
          <a:xfrm>
            <a:off x="5128181" y="4790033"/>
            <a:ext cx="1989056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IDE: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Qt Creator 10.0+</a:t>
            </a:r>
          </a:p>
        </p:txBody>
      </p:sp>
      <p:sp>
        <p:nvSpPr>
          <p:cNvPr id="121" name="Google Shape;121;p15"/>
          <p:cNvSpPr txBox="1"/>
          <p:nvPr/>
        </p:nvSpPr>
        <p:spPr>
          <a:xfrm>
            <a:off x="9314229" y="3431827"/>
            <a:ext cx="112014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测试工具</a:t>
            </a:r>
          </a:p>
        </p:txBody>
      </p:sp>
      <p:sp>
        <p:nvSpPr>
          <p:cNvPr id="122" name="Google Shape;122;p15"/>
          <p:cNvSpPr txBox="1"/>
          <p:nvPr/>
        </p:nvSpPr>
        <p:spPr>
          <a:xfrm>
            <a:off x="8352148" y="3955702"/>
            <a:ext cx="308256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altLang="zh-CN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vscode</a:t>
            </a:r>
            <a:r>
              <a:rPr lang="zh-CN" alt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</a:t>
            </a:r>
            <a:r>
              <a:rPr lang="zh-CN" alt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截图</a:t>
            </a:r>
            <a:r>
              <a:rPr lang="zh-CN" altLang="en-US" sz="1350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录屏软件</a:t>
            </a:r>
            <a:endParaRPr lang="en-US" sz="1350" b="0" i="0" u="none" strike="noStrike" cap="none" dirty="0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8559849" y="4372867"/>
            <a:ext cx="26289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智能化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智能测试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Agent (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LLM驱动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2093862" y="2793652"/>
            <a:ext cx="4476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5843587" y="2793652"/>
            <a:ext cx="5048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9674274" y="2793652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测试环境与工具</a:t>
            </a:r>
          </a:p>
        </p:txBody>
      </p:sp>
      <p:sp>
        <p:nvSpPr>
          <p:cNvPr id="128" name="Google Shape;128;p15"/>
          <p:cNvSpPr/>
          <p:nvPr/>
        </p:nvSpPr>
        <p:spPr>
          <a:xfrm>
            <a:off x="571500" y="1295400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/>
          <p:nvPr/>
        </p:nvSpPr>
        <p:spPr>
          <a:xfrm>
            <a:off x="571500" y="1533525"/>
            <a:ext cx="52006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静态测试策略</a:t>
            </a:r>
          </a:p>
        </p:txBody>
      </p:sp>
      <p:sp>
        <p:nvSpPr>
          <p:cNvPr id="135" name="Google Shape;135;p16"/>
          <p:cNvSpPr/>
          <p:nvPr/>
        </p:nvSpPr>
        <p:spPr>
          <a:xfrm>
            <a:off x="571500" y="2257425"/>
            <a:ext cx="4953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7" name="Google Shape;137;p16"/>
          <p:cNvSpPr txBox="1"/>
          <p:nvPr>
            <p:custDataLst>
              <p:tags r:id="rId1"/>
            </p:custDataLst>
          </p:nvPr>
        </p:nvSpPr>
        <p:spPr>
          <a:xfrm>
            <a:off x="571500" y="2673350"/>
            <a:ext cx="52006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代码审查</a:t>
            </a:r>
          </a:p>
        </p:txBody>
      </p:sp>
      <p:sp>
        <p:nvSpPr>
          <p:cNvPr id="138" name="Google Shape;138;p16"/>
          <p:cNvSpPr txBox="1"/>
          <p:nvPr>
            <p:custDataLst>
              <p:tags r:id="rId2"/>
            </p:custDataLst>
          </p:nvPr>
        </p:nvSpPr>
        <p:spPr>
          <a:xfrm>
            <a:off x="571500" y="3197225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重点审查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ZigLine 折线算法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（尤其是 64 种情形的散列编码逻辑）以及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UndoStack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的内存管理机制，确保无内存泄漏风险。</a:t>
            </a:r>
          </a:p>
        </p:txBody>
      </p:sp>
      <p:sp>
        <p:nvSpPr>
          <p:cNvPr id="139" name="Google Shape;139;p16"/>
          <p:cNvSpPr txBox="1"/>
          <p:nvPr>
            <p:custDataLst>
              <p:tags r:id="rId3"/>
            </p:custDataLst>
          </p:nvPr>
        </p:nvSpPr>
        <p:spPr>
          <a:xfrm>
            <a:off x="571500" y="4272855"/>
            <a:ext cx="52006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文档检查</a:t>
            </a:r>
          </a:p>
        </p:txBody>
      </p:sp>
      <p:sp>
        <p:nvSpPr>
          <p:cNvPr id="140" name="Google Shape;140;p16"/>
          <p:cNvSpPr txBox="1"/>
          <p:nvPr>
            <p:custDataLst>
              <p:tags r:id="rId4"/>
            </p:custDataLst>
          </p:nvPr>
        </p:nvSpPr>
        <p:spPr>
          <a:xfrm>
            <a:off x="571500" y="4796730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对比《需求文档》与《用户文档》，严格验证功能描述的一致性，重点检查“错误自检”和“协同开发”功能的实际实现情况。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21805" y="1624330"/>
            <a:ext cx="4236720" cy="4005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2185987"/>
            <a:ext cx="52387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6448425" y="218503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</a:p>
        </p:txBody>
      </p:sp>
      <p:sp>
        <p:nvSpPr>
          <p:cNvPr id="149" name="Google Shape;149;p17"/>
          <p:cNvSpPr txBox="1"/>
          <p:nvPr/>
        </p:nvSpPr>
        <p:spPr>
          <a:xfrm>
            <a:off x="6619875" y="2185987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核心绘图: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测试图元拖拽、缩放、旋转及图层调整（前置/后置）的流畅度。</a:t>
            </a:r>
          </a:p>
        </p:txBody>
      </p:sp>
      <p:sp>
        <p:nvSpPr>
          <p:cNvPr id="150" name="Google Shape;150;p17"/>
          <p:cNvSpPr txBox="1"/>
          <p:nvPr/>
        </p:nvSpPr>
        <p:spPr>
          <a:xfrm>
            <a:off x="6448425" y="284791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</a:p>
        </p:txBody>
      </p:sp>
      <p:sp>
        <p:nvSpPr>
          <p:cNvPr id="151" name="Google Shape;151;p17"/>
          <p:cNvSpPr txBox="1"/>
          <p:nvPr/>
        </p:nvSpPr>
        <p:spPr>
          <a:xfrm>
            <a:off x="6619875" y="2848867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连线交互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测试不同象限下折线算法的自动寻路准确性，以及连线吸附功能的灵敏度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52" name="Google Shape;152;p17"/>
          <p:cNvSpPr txBox="1"/>
          <p:nvPr/>
        </p:nvSpPr>
        <p:spPr>
          <a:xfrm>
            <a:off x="6448425" y="351079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</a:p>
        </p:txBody>
      </p:sp>
      <p:sp>
        <p:nvSpPr>
          <p:cNvPr id="153" name="Google Shape;153;p17"/>
          <p:cNvSpPr txBox="1"/>
          <p:nvPr/>
        </p:nvSpPr>
        <p:spPr>
          <a:xfrm>
            <a:off x="6619875" y="3511748"/>
            <a:ext cx="5000625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文件系统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.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fcproj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工程文件的序列化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反序列化稳定性，及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SVG/PNG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导出的保真度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54" name="Google Shape;154;p17"/>
          <p:cNvSpPr txBox="1"/>
          <p:nvPr/>
        </p:nvSpPr>
        <p:spPr>
          <a:xfrm>
            <a:off x="6448425" y="4192726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</a:p>
        </p:txBody>
      </p:sp>
      <p:sp>
        <p:nvSpPr>
          <p:cNvPr id="155" name="Google Shape;155;p17"/>
          <p:cNvSpPr txBox="1"/>
          <p:nvPr/>
        </p:nvSpPr>
        <p:spPr>
          <a:xfrm>
            <a:off x="6619875" y="4193678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快捷键响应: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验证全局快捷键 (Ctrl+C/V/Z/Y) 在不同焦点下的响应情况。</a:t>
            </a:r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动态测试策略 (黑盒测试)</a:t>
            </a:r>
          </a:p>
        </p:txBody>
      </p:sp>
      <p:sp>
        <p:nvSpPr>
          <p:cNvPr id="157" name="Google Shape;157;p17"/>
          <p:cNvSpPr/>
          <p:nvPr/>
        </p:nvSpPr>
        <p:spPr>
          <a:xfrm>
            <a:off x="571500" y="1295400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图片 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020" y="2059940"/>
            <a:ext cx="5133975" cy="33089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6381750" y="2516534"/>
            <a:ext cx="550068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智能测试生成 Agent</a:t>
            </a:r>
          </a:p>
        </p:txBody>
      </p:sp>
      <p:sp>
        <p:nvSpPr>
          <p:cNvPr id="165" name="Google Shape;165;p18"/>
          <p:cNvSpPr txBox="1"/>
          <p:nvPr/>
        </p:nvSpPr>
        <p:spPr>
          <a:xfrm>
            <a:off x="6381750" y="3040409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为解决传统测试成本高、覆盖率低的问题，团队将既有的 Agent 进行“测试专用化”改造，剔除无关功能。</a:t>
            </a:r>
          </a:p>
        </p:txBody>
      </p:sp>
      <p:sp>
        <p:nvSpPr>
          <p:cNvPr id="166" name="Google Shape;166;p18"/>
          <p:cNvSpPr txBox="1"/>
          <p:nvPr/>
        </p:nvSpPr>
        <p:spPr>
          <a:xfrm>
            <a:off x="6381750" y="3731865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核心功能:</a:t>
            </a:r>
          </a:p>
        </p:txBody>
      </p:sp>
      <p:sp>
        <p:nvSpPr>
          <p:cNvPr id="168" name="Google Shape;168;p18"/>
          <p:cNvSpPr txBox="1"/>
          <p:nvPr>
            <p:custDataLst>
              <p:tags r:id="rId1"/>
            </p:custDataLst>
          </p:nvPr>
        </p:nvSpPr>
        <p:spPr>
          <a:xfrm>
            <a:off x="6448425" y="414807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</a:p>
        </p:txBody>
      </p:sp>
      <p:sp>
        <p:nvSpPr>
          <p:cNvPr id="169" name="Google Shape;169;p18"/>
          <p:cNvSpPr txBox="1"/>
          <p:nvPr>
            <p:custDataLst>
              <p:tags r:id="rId2"/>
            </p:custDataLst>
          </p:nvPr>
        </p:nvSpPr>
        <p:spPr>
          <a:xfrm>
            <a:off x="6619875" y="4149030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黑盒用例生成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分析需求文档，推理正常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异常流，输出结构化用例表格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70" name="Google Shape;170;p18"/>
          <p:cNvSpPr txBox="1"/>
          <p:nvPr>
            <p:custDataLst>
              <p:tags r:id="rId3"/>
            </p:custDataLst>
          </p:nvPr>
        </p:nvSpPr>
        <p:spPr>
          <a:xfrm>
            <a:off x="6448425" y="4810958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</a:p>
        </p:txBody>
      </p:sp>
      <p:sp>
        <p:nvSpPr>
          <p:cNvPr id="171" name="Google Shape;171;p18"/>
          <p:cNvSpPr txBox="1"/>
          <p:nvPr>
            <p:custDataLst>
              <p:tags r:id="rId4"/>
            </p:custDataLst>
          </p:nvPr>
        </p:nvSpPr>
        <p:spPr>
          <a:xfrm>
            <a:off x="6619875" y="4811910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白盒代码生成</a:t>
            </a:r>
            <a:r>
              <a:rPr lang="en-US" sz="1350" b="1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识别核心类代码（如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ZigLine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），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生成基于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QTest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/Google Test 的 C++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单元测试代码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72" name="Google Shape;172;p18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智能化测试工具应用</a:t>
            </a:r>
          </a:p>
        </p:txBody>
      </p:sp>
      <p:sp>
        <p:nvSpPr>
          <p:cNvPr id="173" name="Google Shape;173;p18"/>
          <p:cNvSpPr/>
          <p:nvPr/>
        </p:nvSpPr>
        <p:spPr>
          <a:xfrm>
            <a:off x="571500" y="1295400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图片 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905" y="2196465"/>
            <a:ext cx="4665345" cy="33445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2622202"/>
            <a:ext cx="3492549" cy="2746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49799" y="2622202"/>
            <a:ext cx="3492549" cy="2746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128099" y="2622202"/>
            <a:ext cx="3492549" cy="2746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1042541" y="3565177"/>
            <a:ext cx="255031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Prompt 工程优化</a:t>
            </a:r>
          </a:p>
        </p:txBody>
      </p:sp>
      <p:sp>
        <p:nvSpPr>
          <p:cNvPr id="183" name="Google Shape;183;p19"/>
          <p:cNvSpPr txBox="1"/>
          <p:nvPr/>
        </p:nvSpPr>
        <p:spPr>
          <a:xfrm>
            <a:off x="866775" y="4089052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定制针对 Qt C++ 特性的 Prompt 模板，教导 Agent 理解信号槽机制和 QGraphicsItem 属性。</a:t>
            </a:r>
          </a:p>
        </p:txBody>
      </p:sp>
      <p:sp>
        <p:nvSpPr>
          <p:cNvPr id="184" name="Google Shape;184;p19"/>
          <p:cNvSpPr txBox="1"/>
          <p:nvPr/>
        </p:nvSpPr>
        <p:spPr>
          <a:xfrm>
            <a:off x="5375910" y="3565177"/>
            <a:ext cx="144018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批量生成</a:t>
            </a:r>
          </a:p>
        </p:txBody>
      </p:sp>
      <p:sp>
        <p:nvSpPr>
          <p:cNvPr id="185" name="Google Shape;185;p19"/>
          <p:cNvSpPr txBox="1"/>
          <p:nvPr/>
        </p:nvSpPr>
        <p:spPr>
          <a:xfrm>
            <a:off x="4645074" y="4089052"/>
            <a:ext cx="2901999" cy="84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 diagramscene_ultima 中的关键算法类输入 Agent，批量生成单元测试文件。</a:t>
            </a:r>
          </a:p>
        </p:txBody>
      </p:sp>
      <p:sp>
        <p:nvSpPr>
          <p:cNvPr id="186" name="Google Shape;186;p19"/>
          <p:cNvSpPr txBox="1"/>
          <p:nvPr/>
        </p:nvSpPr>
        <p:spPr>
          <a:xfrm>
            <a:off x="8734157" y="3565177"/>
            <a:ext cx="228028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人工验证与执行</a:t>
            </a:r>
          </a:p>
        </p:txBody>
      </p:sp>
      <p:sp>
        <p:nvSpPr>
          <p:cNvPr id="187" name="Google Shape;187;p19"/>
          <p:cNvSpPr txBox="1"/>
          <p:nvPr/>
        </p:nvSpPr>
        <p:spPr>
          <a:xfrm>
            <a:off x="8423374" y="4089052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将生成的测试代码加入工程编译运行。人工 Review 代码以剔除“幻觉”并记录通过率。</a:t>
            </a:r>
          </a:p>
        </p:txBody>
      </p:sp>
      <p:pic>
        <p:nvPicPr>
          <p:cNvPr id="188" name="Google Shape;188;p19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2093862" y="2927002"/>
            <a:ext cx="4476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5872162" y="2927002"/>
            <a:ext cx="4476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9698087" y="2927002"/>
            <a:ext cx="3524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工具实施步骤</a:t>
            </a:r>
          </a:p>
        </p:txBody>
      </p:sp>
      <p:sp>
        <p:nvSpPr>
          <p:cNvPr id="192" name="Google Shape;192;p19"/>
          <p:cNvSpPr/>
          <p:nvPr/>
        </p:nvSpPr>
        <p:spPr>
          <a:xfrm>
            <a:off x="571500" y="1295400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8" name="Google Shape;198;p20"/>
          <p:cNvGraphicFramePr/>
          <p:nvPr/>
        </p:nvGraphicFramePr>
        <p:xfrm>
          <a:off x="571500" y="1950839"/>
          <a:ext cx="11049000" cy="4089750"/>
        </p:xfrm>
        <a:graphic>
          <a:graphicData uri="http://schemas.openxmlformats.org/drawingml/2006/table">
            <a:tbl>
              <a:tblPr firstRow="1" bandRow="1">
                <a:noFill/>
                <a:tableStyleId>{5FA20AC6-02FD-4FE6-A6A8-428F1F293408}</a:tableStyleId>
              </a:tblPr>
              <a:tblGrid>
                <a:gridCol w="264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阶段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时间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主要任务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启动与计划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11.25 - 11.26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搭建环境，提交《测试计划书》。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功能测试执行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11.27 - 12.10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执行黑盒测试用例，记录 Bug。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智能工具研发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12.01 - 12.14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适配 Agent，生成并运行单元测试代码。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中期汇报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12.15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汇报测试进度及主要缺陷。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工具展示与冲刺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12.16 - 12.20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展示智能化工具成果，完成个人单元测试。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4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最终交付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12.31 / 01.04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最终答辩，提交所有项目文档及源码。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9" name="Google Shape;199;p20"/>
          <p:cNvSpPr/>
          <p:nvPr/>
        </p:nvSpPr>
        <p:spPr>
          <a:xfrm>
            <a:off x="571500" y="2494657"/>
            <a:ext cx="2646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3218110" y="2494657"/>
            <a:ext cx="23117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529857" y="2494657"/>
            <a:ext cx="60906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71500" y="3083272"/>
            <a:ext cx="2646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3218110" y="3083272"/>
            <a:ext cx="23117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5529857" y="3083272"/>
            <a:ext cx="60906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571500" y="3671887"/>
            <a:ext cx="2646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3218110" y="3671887"/>
            <a:ext cx="23117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5529857" y="3671887"/>
            <a:ext cx="60906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571500" y="4260502"/>
            <a:ext cx="2646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3218110" y="4260502"/>
            <a:ext cx="23117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5529857" y="4260502"/>
            <a:ext cx="60906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571500" y="4849117"/>
            <a:ext cx="2646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218110" y="4849117"/>
            <a:ext cx="23117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5529857" y="4849117"/>
            <a:ext cx="60906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571500" y="5437733"/>
            <a:ext cx="2646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3218110" y="5437733"/>
            <a:ext cx="23117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5529857" y="5437733"/>
            <a:ext cx="60906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571500" y="6026348"/>
            <a:ext cx="26466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3218110" y="6026348"/>
            <a:ext cx="23117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5529857" y="6026348"/>
            <a:ext cx="60906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进度安排</a:t>
            </a:r>
          </a:p>
        </p:txBody>
      </p:sp>
      <p:sp>
        <p:nvSpPr>
          <p:cNvPr id="221" name="Google Shape;221;p20"/>
          <p:cNvSpPr/>
          <p:nvPr/>
        </p:nvSpPr>
        <p:spPr>
          <a:xfrm>
            <a:off x="571500" y="1295400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2190750" y="2714625"/>
            <a:ext cx="8191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项目测试计划书</a:t>
            </a:r>
            <a:r>
              <a:rPr lang="en-US" sz="1350" b="1" i="0" u="none" strike="noStrike" cap="none" dirty="0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包含完整的测试策略与范围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245" name="Google Shape;245;p22"/>
          <p:cNvSpPr txBox="1"/>
          <p:nvPr/>
        </p:nvSpPr>
        <p:spPr>
          <a:xfrm>
            <a:off x="2190750" y="3227040"/>
            <a:ext cx="8191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项目测试缺陷清单</a:t>
            </a:r>
            <a:r>
              <a:rPr lang="en-US" sz="1350" b="1" i="0" u="none" strike="noStrike" cap="none" dirty="0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(Bug List):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详细记录发现的所有问题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246" name="Google Shape;246;p22"/>
          <p:cNvSpPr txBox="1"/>
          <p:nvPr/>
        </p:nvSpPr>
        <p:spPr>
          <a:xfrm>
            <a:off x="2190750" y="3739455"/>
            <a:ext cx="8191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单元测试实践实验报告</a:t>
            </a:r>
            <a:r>
              <a:rPr lang="en-US" sz="1350" b="1" i="0" u="none" strike="noStrike" cap="none" dirty="0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单元测试阶段的实验结果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247" name="Google Shape;247;p22"/>
          <p:cNvSpPr txBox="1"/>
          <p:nvPr/>
        </p:nvSpPr>
        <p:spPr>
          <a:xfrm>
            <a:off x="2190750" y="4251870"/>
            <a:ext cx="8191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软件测试智能化工具开发报告</a:t>
            </a:r>
            <a:r>
              <a:rPr lang="en-US" sz="1350" b="1" i="0" u="none" strike="noStrike" cap="none" dirty="0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含 Agent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源码、设计文档及运行结果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248" name="Google Shape;248;p22"/>
          <p:cNvSpPr txBox="1"/>
          <p:nvPr/>
        </p:nvSpPr>
        <p:spPr>
          <a:xfrm>
            <a:off x="2190750" y="4764285"/>
            <a:ext cx="8191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项目测试总结报告</a:t>
            </a:r>
            <a:r>
              <a:rPr lang="en-US" sz="1350" b="1" i="0" u="none" strike="noStrike" cap="none" dirty="0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项目整体测试工作的总结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pic>
        <p:nvPicPr>
          <p:cNvPr id="249" name="Google Shape;249;p22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809750" y="2762250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809750" y="327466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809750" y="378708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809750" y="429949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809750" y="4811910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交付成果</a:t>
            </a:r>
          </a:p>
        </p:txBody>
      </p:sp>
      <p:sp>
        <p:nvSpPr>
          <p:cNvPr id="255" name="Google Shape;255;p22"/>
          <p:cNvSpPr/>
          <p:nvPr/>
        </p:nvSpPr>
        <p:spPr>
          <a:xfrm>
            <a:off x="571500" y="1295400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4790836" y="2080319"/>
            <a:ext cx="2610326" cy="138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</a:p>
        </p:txBody>
      </p:sp>
      <p:sp>
        <p:nvSpPr>
          <p:cNvPr id="262" name="Google Shape;262;p23"/>
          <p:cNvSpPr txBox="1"/>
          <p:nvPr/>
        </p:nvSpPr>
        <p:spPr>
          <a:xfrm>
            <a:off x="4852987" y="3651944"/>
            <a:ext cx="24860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</a:p>
        </p:txBody>
      </p:sp>
      <p:sp>
        <p:nvSpPr>
          <p:cNvPr id="263" name="Google Shape;263;p23"/>
          <p:cNvSpPr txBox="1"/>
          <p:nvPr/>
        </p:nvSpPr>
        <p:spPr>
          <a:xfrm>
            <a:off x="2690495" y="4520565"/>
            <a:ext cx="6633210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i="0" u="none" strike="noStrike" cap="none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小组</a:t>
            </a:r>
            <a:r>
              <a:rPr lang="en-US" sz="1800" b="1" i="0" u="none" strike="noStrike" cap="none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The Stone Roses     </a:t>
            </a:r>
            <a:r>
              <a:rPr lang="zh-CN" altLang="en-US" sz="1800" b="1" i="0" u="none" strike="noStrike" cap="none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时间：</a:t>
            </a:r>
            <a:r>
              <a:rPr lang="en-US" altLang="zh-CN" sz="1800" b="1" i="0" u="none" strike="noStrike" cap="none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2025.11.26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8335433070867,&quot;left&quot;:45,&quot;top&quot;:137.87732283464567,&quot;width&quot;:433.1249606299212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8335433070867,&quot;left&quot;:45,&quot;top&quot;:137.87732283464567,&quot;width&quot;:433.1249606299212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8335433070867,&quot;left&quot;:45,&quot;top&quot;:137.87732283464567,&quot;width&quot;:433.1249606299212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8335433070867,&quot;left&quot;:45,&quot;top&quot;:137.87732283464567,&quot;width&quot;:433.1249606299212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8335433070867,&quot;left&quot;:45,&quot;top&quot;:137.87732283464567,&quot;width&quot;:433.1249606299212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9.8335433070867,&quot;left&quot;:45,&quot;top&quot;:137.87732283464567,&quot;width&quot;:433.1249606299212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98818897637793,&quot;left&quot;:45,&quot;top&quot;:202.5,&quot;width&quot;:409.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98818897637793,&quot;left&quot;:45,&quot;top&quot;:202.5,&quot;width&quot;:409.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98818897637793,&quot;left&quot;:45,&quot;top&quot;:202.5,&quot;width&quot;:409.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98818897637793,&quot;left&quot;:45,&quot;top&quot;:202.5,&quot;width&quot;:409.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5.46559055118114,&quot;left&quot;:507.75,&quot;top&quot;:326.62023622047246,&quot;width&quot;:407.2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5.46559055118114,&quot;left&quot;:507.75,&quot;top&quot;:326.62023622047246,&quot;width&quot;:407.2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5.46559055118114,&quot;left&quot;:507.75,&quot;top&quot;:326.62023622047246,&quot;width&quot;:407.2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5.46559055118114,&quot;left&quot;:507.75,&quot;top&quot;:326.62023622047246,&quot;width&quot;:407.25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392</Words>
  <Application>Microsoft Office PowerPoint</Application>
  <PresentationFormat>Widescreen</PresentationFormat>
  <Paragraphs>82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Noto Sans SC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程逸雷</dc:creator>
  <cp:lastModifiedBy>Yilei Cheng</cp:lastModifiedBy>
  <cp:revision>3</cp:revision>
  <dcterms:created xsi:type="dcterms:W3CDTF">2025-11-25T13:08:27Z</dcterms:created>
  <dcterms:modified xsi:type="dcterms:W3CDTF">2025-11-25T13:48:53Z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2139A3A9F7484F698A4C37344B80E488_13</vt:lpwstr>
  </property>
  <property fmtid="{D5CDD505-2E9C-101B-9397-08002B2CF9AE}" pid="3" name="KSOProductBuildVer">
    <vt:lpwstr>2052-12.1.0.19302</vt:lpwstr>
  </property>
</Properties>
</file>